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68" r:id="rId4"/>
    <p:sldId id="258" r:id="rId5"/>
    <p:sldId id="259" r:id="rId6"/>
    <p:sldId id="270" r:id="rId7"/>
    <p:sldId id="271" r:id="rId8"/>
    <p:sldId id="260" r:id="rId9"/>
    <p:sldId id="269" r:id="rId10"/>
    <p:sldId id="264" r:id="rId11"/>
  </p:sldIdLst>
  <p:sldSz cx="9753600" cy="7315200"/>
  <p:notesSz cx="9753600" cy="7315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gTxnPD+aw2LrBypMl/CD7XQzvf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2" d="100"/>
          <a:sy n="52" d="100"/>
        </p:scale>
        <p:origin x="1556" y="6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25925" y="548625"/>
            <a:ext cx="6502725"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 name="Google Shape;50;p1: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2: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4: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4: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572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4: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040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19ac019662_0_1: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19ac019662_0_1:notes"/>
          <p:cNvSpPr txBox="1">
            <a:spLocks noGrp="1"/>
          </p:cNvSpPr>
          <p:nvPr>
            <p:ph type="body" idx="1"/>
          </p:nvPr>
        </p:nvSpPr>
        <p:spPr>
          <a:xfrm>
            <a:off x="975350" y="3474700"/>
            <a:ext cx="7803000" cy="329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7: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7: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20"/>
        <p:cNvGrpSpPr/>
        <p:nvPr/>
      </p:nvGrpSpPr>
      <p:grpSpPr>
        <a:xfrm>
          <a:off x="0" y="0"/>
          <a:ext cx="0" cy="0"/>
          <a:chOff x="0" y="0"/>
          <a:chExt cx="0" cy="0"/>
        </a:xfrm>
      </p:grpSpPr>
      <p:sp>
        <p:nvSpPr>
          <p:cNvPr id="21" name="Google Shape;21;p9"/>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9"/>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4"/>
        <p:cNvGrpSpPr/>
        <p:nvPr/>
      </p:nvGrpSpPr>
      <p:grpSpPr>
        <a:xfrm>
          <a:off x="0" y="0"/>
          <a:ext cx="0" cy="0"/>
          <a:chOff x="0" y="0"/>
          <a:chExt cx="0" cy="0"/>
        </a:xfrm>
      </p:grpSpPr>
      <p:sp>
        <p:nvSpPr>
          <p:cNvPr id="25" name="Google Shape;25;p10"/>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6" name="Google Shape;26;p10"/>
          <p:cNvSpPr txBox="1">
            <a:spLocks noGrp="1"/>
          </p:cNvSpPr>
          <p:nvPr>
            <p:ph type="body" idx="1"/>
          </p:nvPr>
        </p:nvSpPr>
        <p:spPr>
          <a:xfrm>
            <a:off x="428995" y="1289312"/>
            <a:ext cx="8952230" cy="432117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100" b="0" i="0">
                <a:solidFill>
                  <a:schemeClr val="dk1"/>
                </a:solidFill>
                <a:latin typeface="Times New Roman"/>
                <a:ea typeface="Times New Roman"/>
                <a:cs typeface="Times New Roman"/>
                <a:sym typeface="Times New Roman"/>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pPr lvl="0"/>
            <a:r>
              <a:rPr lang="en-US"/>
              <a:t>Click to edit Master text styles</a:t>
            </a:r>
          </a:p>
        </p:txBody>
      </p:sp>
      <p:sp>
        <p:nvSpPr>
          <p:cNvPr id="27" name="Google Shape;27;p10"/>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0"/>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0"/>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0"/>
        <p:cNvGrpSpPr/>
        <p:nvPr/>
      </p:nvGrpSpPr>
      <p:grpSpPr>
        <a:xfrm>
          <a:off x="0" y="0"/>
          <a:ext cx="0" cy="0"/>
          <a:chOff x="0" y="0"/>
          <a:chExt cx="0" cy="0"/>
        </a:xfrm>
      </p:grpSpPr>
      <p:sp>
        <p:nvSpPr>
          <p:cNvPr id="31" name="Google Shape;31;p11"/>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11"/>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1"/>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1"/>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5"/>
        <p:cNvGrpSpPr/>
        <p:nvPr/>
      </p:nvGrpSpPr>
      <p:grpSpPr>
        <a:xfrm>
          <a:off x="0" y="0"/>
          <a:ext cx="0" cy="0"/>
          <a:chOff x="0" y="0"/>
          <a:chExt cx="0" cy="0"/>
        </a:xfrm>
      </p:grpSpPr>
      <p:sp>
        <p:nvSpPr>
          <p:cNvPr id="36" name="Google Shape;36;p12"/>
          <p:cNvSpPr txBox="1">
            <a:spLocks noGrp="1"/>
          </p:cNvSpPr>
          <p:nvPr>
            <p:ph type="ctrTitle"/>
          </p:nvPr>
        </p:nvSpPr>
        <p:spPr>
          <a:xfrm>
            <a:off x="731520" y="2267712"/>
            <a:ext cx="8290560" cy="153619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7" name="Google Shape;37;p12"/>
          <p:cNvSpPr txBox="1">
            <a:spLocks noGrp="1"/>
          </p:cNvSpPr>
          <p:nvPr>
            <p:ph type="subTitle" idx="1"/>
          </p:nvPr>
        </p:nvSpPr>
        <p:spPr>
          <a:xfrm>
            <a:off x="1463040" y="4096512"/>
            <a:ext cx="6827520" cy="18288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100" b="0" i="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subtitle style</a:t>
            </a:r>
            <a:endParaRPr/>
          </a:p>
        </p:txBody>
      </p:sp>
      <p:sp>
        <p:nvSpPr>
          <p:cNvPr id="38" name="Google Shape;38;p12"/>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2"/>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2"/>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3" name="Google Shape;43;p13"/>
          <p:cNvSpPr txBox="1">
            <a:spLocks noGrp="1"/>
          </p:cNvSpPr>
          <p:nvPr>
            <p:ph type="body" idx="1"/>
          </p:nvPr>
        </p:nvSpPr>
        <p:spPr>
          <a:xfrm>
            <a:off x="487680" y="1682496"/>
            <a:ext cx="4242816" cy="482803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pPr lvl="0"/>
            <a:r>
              <a:rPr lang="en-US"/>
              <a:t>Click to edit Master text styles</a:t>
            </a:r>
          </a:p>
        </p:txBody>
      </p:sp>
      <p:sp>
        <p:nvSpPr>
          <p:cNvPr id="44" name="Google Shape;44;p13"/>
          <p:cNvSpPr txBox="1">
            <a:spLocks noGrp="1"/>
          </p:cNvSpPr>
          <p:nvPr>
            <p:ph type="body" idx="2"/>
          </p:nvPr>
        </p:nvSpPr>
        <p:spPr>
          <a:xfrm>
            <a:off x="5023104" y="1682496"/>
            <a:ext cx="4242816" cy="482803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pPr lvl="0"/>
            <a:r>
              <a:rPr lang="en-US"/>
              <a:t>Click to edit Master text styles</a:t>
            </a:r>
          </a:p>
        </p:txBody>
      </p:sp>
      <p:sp>
        <p:nvSpPr>
          <p:cNvPr id="45" name="Google Shape;45;p13"/>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3"/>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3"/>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p:nvPr/>
        </p:nvSpPr>
        <p:spPr>
          <a:xfrm>
            <a:off x="0" y="0"/>
            <a:ext cx="9752965" cy="894080"/>
          </a:xfrm>
          <a:custGeom>
            <a:avLst/>
            <a:gdLst/>
            <a:ahLst/>
            <a:cxnLst/>
            <a:rect l="l" t="t" r="r" b="b"/>
            <a:pathLst>
              <a:path w="9752965" h="894080" extrusionOk="0">
                <a:moveTo>
                  <a:pt x="9752456" y="893567"/>
                </a:moveTo>
                <a:lnTo>
                  <a:pt x="0" y="893567"/>
                </a:lnTo>
                <a:lnTo>
                  <a:pt x="0" y="0"/>
                </a:lnTo>
                <a:lnTo>
                  <a:pt x="9752456" y="0"/>
                </a:lnTo>
                <a:lnTo>
                  <a:pt x="9752456" y="893567"/>
                </a:lnTo>
                <a:close/>
              </a:path>
            </a:pathLst>
          </a:custGeom>
          <a:solidFill>
            <a:srgbClr val="FF33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 name="Google Shape;7;p8"/>
          <p:cNvSpPr/>
          <p:nvPr/>
        </p:nvSpPr>
        <p:spPr>
          <a:xfrm>
            <a:off x="0" y="7151615"/>
            <a:ext cx="9753600" cy="163830"/>
          </a:xfrm>
          <a:custGeom>
            <a:avLst/>
            <a:gdLst/>
            <a:ahLst/>
            <a:cxnLst/>
            <a:rect l="l" t="t" r="r" b="b"/>
            <a:pathLst>
              <a:path w="9753600" h="163829" extrusionOk="0">
                <a:moveTo>
                  <a:pt x="9753218" y="163584"/>
                </a:moveTo>
                <a:lnTo>
                  <a:pt x="0" y="163584"/>
                </a:lnTo>
                <a:lnTo>
                  <a:pt x="0" y="0"/>
                </a:lnTo>
                <a:lnTo>
                  <a:pt x="9753218" y="0"/>
                </a:lnTo>
                <a:lnTo>
                  <a:pt x="9753218" y="163584"/>
                </a:lnTo>
                <a:close/>
              </a:path>
            </a:pathLst>
          </a:custGeom>
          <a:solidFill>
            <a:srgbClr val="FF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8" name="Google Shape;8;p8"/>
          <p:cNvPicPr preferRelativeResize="0"/>
          <p:nvPr/>
        </p:nvPicPr>
        <p:blipFill rotWithShape="1">
          <a:blip r:embed="rId7">
            <a:alphaModFix/>
          </a:blip>
          <a:srcRect/>
          <a:stretch/>
        </p:blipFill>
        <p:spPr>
          <a:xfrm>
            <a:off x="6989951" y="243840"/>
            <a:ext cx="2190749" cy="676274"/>
          </a:xfrm>
          <a:prstGeom prst="rect">
            <a:avLst/>
          </a:prstGeom>
          <a:noFill/>
          <a:ln>
            <a:noFill/>
          </a:ln>
        </p:spPr>
      </p:pic>
      <p:pic>
        <p:nvPicPr>
          <p:cNvPr id="9" name="Google Shape;9;p8"/>
          <p:cNvPicPr preferRelativeResize="0"/>
          <p:nvPr/>
        </p:nvPicPr>
        <p:blipFill rotWithShape="1">
          <a:blip r:embed="rId8">
            <a:alphaModFix/>
          </a:blip>
          <a:srcRect/>
          <a:stretch/>
        </p:blipFill>
        <p:spPr>
          <a:xfrm>
            <a:off x="6989951" y="243840"/>
            <a:ext cx="2047874" cy="647623"/>
          </a:xfrm>
          <a:prstGeom prst="rect">
            <a:avLst/>
          </a:prstGeom>
          <a:noFill/>
          <a:ln>
            <a:noFill/>
          </a:ln>
        </p:spPr>
      </p:pic>
      <p:pic>
        <p:nvPicPr>
          <p:cNvPr id="10" name="Google Shape;10;p8"/>
          <p:cNvPicPr preferRelativeResize="0"/>
          <p:nvPr/>
        </p:nvPicPr>
        <p:blipFill rotWithShape="1">
          <a:blip r:embed="rId9">
            <a:alphaModFix/>
          </a:blip>
          <a:srcRect/>
          <a:stretch/>
        </p:blipFill>
        <p:spPr>
          <a:xfrm>
            <a:off x="6989951" y="243840"/>
            <a:ext cx="2190749" cy="676274"/>
          </a:xfrm>
          <a:prstGeom prst="rect">
            <a:avLst/>
          </a:prstGeom>
          <a:noFill/>
          <a:ln>
            <a:noFill/>
          </a:ln>
        </p:spPr>
      </p:pic>
      <p:sp>
        <p:nvSpPr>
          <p:cNvPr id="11" name="Google Shape;11;p8"/>
          <p:cNvSpPr/>
          <p:nvPr/>
        </p:nvSpPr>
        <p:spPr>
          <a:xfrm>
            <a:off x="6556416" y="0"/>
            <a:ext cx="3197860" cy="894080"/>
          </a:xfrm>
          <a:custGeom>
            <a:avLst/>
            <a:gdLst/>
            <a:ahLst/>
            <a:cxnLst/>
            <a:rect l="l" t="t" r="r" b="b"/>
            <a:pathLst>
              <a:path w="3197859" h="894080" extrusionOk="0">
                <a:moveTo>
                  <a:pt x="3197297" y="893567"/>
                </a:moveTo>
                <a:lnTo>
                  <a:pt x="0" y="893567"/>
                </a:lnTo>
                <a:lnTo>
                  <a:pt x="0" y="0"/>
                </a:lnTo>
                <a:lnTo>
                  <a:pt x="3197297" y="0"/>
                </a:lnTo>
                <a:lnTo>
                  <a:pt x="3197297" y="893567"/>
                </a:lnTo>
                <a:close/>
              </a:path>
            </a:pathLst>
          </a:custGeom>
          <a:solidFill>
            <a:srgbClr val="FF33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2" name="Google Shape;12;p8"/>
          <p:cNvPicPr preferRelativeResize="0"/>
          <p:nvPr/>
        </p:nvPicPr>
        <p:blipFill rotWithShape="1">
          <a:blip r:embed="rId9">
            <a:alphaModFix/>
          </a:blip>
          <a:srcRect/>
          <a:stretch/>
        </p:blipFill>
        <p:spPr>
          <a:xfrm>
            <a:off x="6989951" y="243840"/>
            <a:ext cx="2190749" cy="676274"/>
          </a:xfrm>
          <a:prstGeom prst="rect">
            <a:avLst/>
          </a:prstGeom>
          <a:noFill/>
          <a:ln>
            <a:noFill/>
          </a:ln>
        </p:spPr>
      </p:pic>
      <p:sp>
        <p:nvSpPr>
          <p:cNvPr id="13" name="Google Shape;13;p8"/>
          <p:cNvSpPr/>
          <p:nvPr/>
        </p:nvSpPr>
        <p:spPr>
          <a:xfrm>
            <a:off x="6963071" y="203136"/>
            <a:ext cx="2213610" cy="731520"/>
          </a:xfrm>
          <a:custGeom>
            <a:avLst/>
            <a:gdLst/>
            <a:ahLst/>
            <a:cxnLst/>
            <a:rect l="l" t="t" r="r" b="b"/>
            <a:pathLst>
              <a:path w="2213609" h="731519" extrusionOk="0">
                <a:moveTo>
                  <a:pt x="2213399" y="731135"/>
                </a:moveTo>
                <a:lnTo>
                  <a:pt x="0" y="731135"/>
                </a:lnTo>
                <a:lnTo>
                  <a:pt x="0" y="0"/>
                </a:lnTo>
                <a:lnTo>
                  <a:pt x="2213399" y="0"/>
                </a:lnTo>
                <a:lnTo>
                  <a:pt x="2213399" y="731135"/>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4" name="Google Shape;14;p8"/>
          <p:cNvPicPr preferRelativeResize="0"/>
          <p:nvPr/>
        </p:nvPicPr>
        <p:blipFill rotWithShape="1">
          <a:blip r:embed="rId8">
            <a:alphaModFix/>
          </a:blip>
          <a:srcRect/>
          <a:stretch/>
        </p:blipFill>
        <p:spPr>
          <a:xfrm>
            <a:off x="6989951" y="243840"/>
            <a:ext cx="2047874" cy="647623"/>
          </a:xfrm>
          <a:prstGeom prst="rect">
            <a:avLst/>
          </a:prstGeom>
          <a:noFill/>
          <a:ln>
            <a:noFill/>
          </a:ln>
        </p:spPr>
      </p:pic>
      <p:sp>
        <p:nvSpPr>
          <p:cNvPr id="15" name="Google Shape;15;p8"/>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4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8"/>
          <p:cNvSpPr txBox="1">
            <a:spLocks noGrp="1"/>
          </p:cNvSpPr>
          <p:nvPr>
            <p:ph type="body" idx="1"/>
          </p:nvPr>
        </p:nvSpPr>
        <p:spPr>
          <a:xfrm>
            <a:off x="428995" y="1289312"/>
            <a:ext cx="8952230" cy="432117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7" name="Google Shape;17;p8"/>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 name="Google Shape;18;p8"/>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8"/>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p:nvPr/>
        </p:nvSpPr>
        <p:spPr>
          <a:xfrm>
            <a:off x="267855" y="1152575"/>
            <a:ext cx="9033163" cy="4013456"/>
          </a:xfrm>
          <a:prstGeom prst="rect">
            <a:avLst/>
          </a:prstGeom>
          <a:noFill/>
          <a:ln>
            <a:noFill/>
          </a:ln>
        </p:spPr>
        <p:txBody>
          <a:bodyPr spcFirstLastPara="1" wrap="square" lIns="0" tIns="15225" rIns="0" bIns="0" anchor="t" anchorCtr="0">
            <a:spAutoFit/>
          </a:bodyPr>
          <a:lstStyle/>
          <a:p>
            <a:pPr algn="ctr"/>
            <a:r>
              <a:rPr lang="en-IN" sz="3200" b="1" dirty="0">
                <a:latin typeface="Times New Roman" panose="02020603050405020304" pitchFamily="18" charset="0"/>
                <a:cs typeface="Times New Roman" panose="02020603050405020304" pitchFamily="18" charset="0"/>
              </a:rPr>
              <a:t>         Comparative Evaluation of Machine Learning                 Models for Phishing Detection</a:t>
            </a:r>
          </a:p>
          <a:p>
            <a:pPr lvl="0" algn="ctr">
              <a:lnSpc>
                <a:spcPct val="119736"/>
              </a:lnSpc>
            </a:pPr>
            <a:endParaRPr lang="en-US" sz="3200" b="1" dirty="0">
              <a:latin typeface="Times New Roman" panose="02020603050405020304" pitchFamily="18" charset="0"/>
              <a:ea typeface="Times New Roman"/>
              <a:cs typeface="Times New Roman" panose="02020603050405020304" pitchFamily="18" charset="0"/>
              <a:sym typeface="Times New Roman"/>
            </a:endParaRPr>
          </a:p>
          <a:p>
            <a:pPr lvl="0" algn="ctr">
              <a:lnSpc>
                <a:spcPct val="119736"/>
              </a:lnSpc>
            </a:pPr>
            <a:endParaRPr lang="en-IN" sz="2100" dirty="0">
              <a:latin typeface="Times New Roman"/>
              <a:ea typeface="Times New Roman"/>
              <a:cs typeface="Times New Roman"/>
              <a:sym typeface="Times New Roman"/>
            </a:endParaRPr>
          </a:p>
          <a:p>
            <a:pPr lvl="0" algn="ctr">
              <a:lnSpc>
                <a:spcPct val="119736"/>
              </a:lnSpc>
            </a:pPr>
            <a:endParaRPr lang="en-IN" sz="2100" dirty="0">
              <a:latin typeface="Times New Roman"/>
              <a:ea typeface="Times New Roman"/>
              <a:cs typeface="Times New Roman"/>
              <a:sym typeface="Times New Roman"/>
            </a:endParaRPr>
          </a:p>
          <a:p>
            <a:pPr lvl="0" algn="ctr">
              <a:lnSpc>
                <a:spcPct val="119736"/>
              </a:lnSpc>
            </a:pPr>
            <a:endParaRPr lang="en-IN" sz="2100" dirty="0">
              <a:latin typeface="Times New Roman"/>
              <a:ea typeface="Times New Roman"/>
              <a:cs typeface="Times New Roman"/>
              <a:sym typeface="Times New Roman"/>
            </a:endParaRPr>
          </a:p>
          <a:p>
            <a:pPr marL="2734945" marR="2727325" lvl="0" indent="0" algn="ctr" rtl="0">
              <a:lnSpc>
                <a:spcPct val="101200"/>
              </a:lnSpc>
              <a:spcBef>
                <a:spcPts val="5"/>
              </a:spcBef>
              <a:spcAft>
                <a:spcPts val="0"/>
              </a:spcAft>
              <a:buNone/>
            </a:pPr>
            <a:endParaRPr lang="en-IN" sz="2100" dirty="0">
              <a:latin typeface="Times New Roman"/>
              <a:ea typeface="Times New Roman"/>
              <a:cs typeface="Times New Roman"/>
              <a:sym typeface="Times New Roman"/>
            </a:endParaRPr>
          </a:p>
          <a:p>
            <a:pPr marL="2734945" marR="2727325" lvl="0" indent="0" algn="ctr" rtl="0">
              <a:lnSpc>
                <a:spcPct val="101200"/>
              </a:lnSpc>
              <a:spcBef>
                <a:spcPts val="5"/>
              </a:spcBef>
              <a:spcAft>
                <a:spcPts val="0"/>
              </a:spcAft>
              <a:buNone/>
            </a:pPr>
            <a:endParaRPr lang="en-US" sz="2100" dirty="0">
              <a:latin typeface="Times New Roman" panose="02020603050405020304" pitchFamily="18" charset="0"/>
              <a:ea typeface="Times New Roman"/>
              <a:cs typeface="Times New Roman" panose="02020603050405020304" pitchFamily="18" charset="0"/>
              <a:sym typeface="Times New Roman"/>
            </a:endParaRPr>
          </a:p>
          <a:p>
            <a:pPr marL="2734945" marR="2727325" lvl="0" indent="0" algn="ctr" rtl="0">
              <a:lnSpc>
                <a:spcPct val="101200"/>
              </a:lnSpc>
              <a:spcBef>
                <a:spcPts val="5"/>
              </a:spcBef>
              <a:spcAft>
                <a:spcPts val="0"/>
              </a:spcAft>
              <a:buNone/>
            </a:pPr>
            <a:r>
              <a:rPr lang="en-US" sz="2100" dirty="0">
                <a:latin typeface="Times New Roman" panose="02020603050405020304" pitchFamily="18" charset="0"/>
                <a:ea typeface="Times New Roman"/>
                <a:cs typeface="Times New Roman" panose="02020603050405020304" pitchFamily="18" charset="0"/>
                <a:sym typeface="Times New Roman"/>
              </a:rPr>
              <a:t>Supervised By </a:t>
            </a:r>
            <a:endParaRPr sz="2100" dirty="0">
              <a:latin typeface="Times New Roman" panose="02020603050405020304" pitchFamily="18" charset="0"/>
              <a:ea typeface="Times New Roman"/>
              <a:cs typeface="Times New Roman" panose="02020603050405020304" pitchFamily="18" charset="0"/>
              <a:sym typeface="Times New Roman"/>
            </a:endParaRPr>
          </a:p>
          <a:p>
            <a:pPr marL="2734945" marR="2727325" lvl="0" algn="ctr">
              <a:lnSpc>
                <a:spcPct val="101200"/>
              </a:lnSpc>
              <a:spcBef>
                <a:spcPts val="5"/>
              </a:spcBef>
            </a:pPr>
            <a:r>
              <a:rPr lang="en-IN" sz="1800" dirty="0" err="1">
                <a:latin typeface="Times New Roman" panose="02020603050405020304" pitchFamily="18" charset="0"/>
                <a:cs typeface="Times New Roman" panose="02020603050405020304" pitchFamily="18" charset="0"/>
              </a:rPr>
              <a:t>Dr.Gurpreet</a:t>
            </a:r>
            <a:r>
              <a:rPr lang="en-IN" sz="1800" dirty="0">
                <a:latin typeface="Times New Roman" panose="02020603050405020304" pitchFamily="18" charset="0"/>
                <a:cs typeface="Times New Roman" panose="02020603050405020304" pitchFamily="18" charset="0"/>
              </a:rPr>
              <a:t> Singh</a:t>
            </a:r>
            <a:endParaRPr sz="1800" dirty="0">
              <a:latin typeface="Times New Roman" panose="02020603050405020304" pitchFamily="18" charset="0"/>
              <a:ea typeface="Times New Roman"/>
              <a:cs typeface="Times New Roman" panose="02020603050405020304" pitchFamily="18" charset="0"/>
              <a:sym typeface="Times New Roman"/>
            </a:endParaRPr>
          </a:p>
        </p:txBody>
      </p:sp>
      <p:sp>
        <p:nvSpPr>
          <p:cNvPr id="53" name="Google Shape;53;p1"/>
          <p:cNvSpPr txBox="1"/>
          <p:nvPr/>
        </p:nvSpPr>
        <p:spPr>
          <a:xfrm>
            <a:off x="1324927" y="5542364"/>
            <a:ext cx="7103745" cy="959473"/>
          </a:xfrm>
          <a:prstGeom prst="rect">
            <a:avLst/>
          </a:prstGeom>
          <a:noFill/>
          <a:ln>
            <a:noFill/>
          </a:ln>
        </p:spPr>
        <p:txBody>
          <a:bodyPr spcFirstLastPara="1" wrap="square" lIns="0" tIns="33000" rIns="0" bIns="0" anchor="t" anchorCtr="0">
            <a:spAutoFit/>
          </a:bodyPr>
          <a:lstStyle/>
          <a:p>
            <a:pPr marL="1631950" marR="5080" lvl="0" indent="-1619885" algn="just" rtl="0">
              <a:lnSpc>
                <a:spcPct val="117647"/>
              </a:lnSpc>
              <a:spcBef>
                <a:spcPts val="0"/>
              </a:spcBef>
              <a:spcAft>
                <a:spcPts val="0"/>
              </a:spcAft>
              <a:buNone/>
            </a:pPr>
            <a:r>
              <a:rPr lang="en-US" sz="2550" dirty="0">
                <a:latin typeface="Times New Roman"/>
                <a:ea typeface="Times New Roman"/>
                <a:cs typeface="Times New Roman"/>
                <a:sym typeface="Times New Roman"/>
              </a:rPr>
              <a:t>Department of Computer Science and Engineering, Chitkara University, Punjab</a:t>
            </a:r>
            <a:endParaRPr sz="2550" dirty="0">
              <a:latin typeface="Times New Roman"/>
              <a:ea typeface="Times New Roman"/>
              <a:cs typeface="Times New Roman"/>
              <a:sym typeface="Times New Roman"/>
            </a:endParaRPr>
          </a:p>
        </p:txBody>
      </p:sp>
      <p:sp>
        <p:nvSpPr>
          <p:cNvPr id="4" name="TextBox 3"/>
          <p:cNvSpPr txBox="1"/>
          <p:nvPr/>
        </p:nvSpPr>
        <p:spPr>
          <a:xfrm>
            <a:off x="0" y="3009673"/>
            <a:ext cx="9753600" cy="1015663"/>
          </a:xfrm>
          <a:prstGeom prst="rect">
            <a:avLst/>
          </a:prstGeom>
          <a:noFill/>
        </p:spPr>
        <p:txBody>
          <a:bodyPr wrap="square">
            <a:spAutoFit/>
          </a:bodyPr>
          <a:lstStyle/>
          <a:p>
            <a:pPr algn="just">
              <a:defRPr sz="2000"/>
            </a:pPr>
            <a:r>
              <a:rPr lang="en-US" dirty="0">
                <a:latin typeface="Times New Roman" panose="02020603050405020304" pitchFamily="18" charset="0"/>
                <a:cs typeface="Times New Roman" panose="02020603050405020304" pitchFamily="18" charset="0"/>
              </a:rPr>
              <a:t> Prabhjot Singh</a:t>
            </a:r>
            <a:r>
              <a:rPr lang="en-IN" dirty="0">
                <a:latin typeface="Times New Roman" panose="02020603050405020304" pitchFamily="18" charset="0"/>
                <a:cs typeface="Times New Roman" panose="02020603050405020304" pitchFamily="18" charset="0"/>
              </a:rPr>
              <a:t> (2210990658)                                    </a:t>
            </a:r>
            <a:r>
              <a:rPr lang="en-US" dirty="0" err="1">
                <a:latin typeface="Times New Roman" panose="02020603050405020304" pitchFamily="18" charset="0"/>
                <a:cs typeface="Times New Roman" panose="02020603050405020304" pitchFamily="18" charset="0"/>
              </a:rPr>
              <a:t>Prathamvir</a:t>
            </a:r>
            <a:r>
              <a:rPr lang="en-US" dirty="0">
                <a:latin typeface="Times New Roman" panose="02020603050405020304" pitchFamily="18" charset="0"/>
                <a:cs typeface="Times New Roman" panose="02020603050405020304" pitchFamily="18" charset="0"/>
              </a:rPr>
              <a:t> Singh Luthra (2210990677)                                                                                                                                                                                                                                  </a:t>
            </a:r>
            <a:endParaRPr lang="en-IN" dirty="0">
              <a:latin typeface="Times New Roman" panose="02020603050405020304" pitchFamily="18" charset="0"/>
              <a:cs typeface="Times New Roman" panose="02020603050405020304" pitchFamily="18" charset="0"/>
            </a:endParaRPr>
          </a:p>
          <a:p>
            <a:pPr algn="just">
              <a:defRPr sz="2000"/>
            </a:pPr>
            <a:endParaRPr lang="en-IN" dirty="0">
              <a:latin typeface="Times New Roman" panose="02020603050405020304" pitchFamily="18" charset="0"/>
              <a:cs typeface="Times New Roman" panose="02020603050405020304" pitchFamily="18" charset="0"/>
            </a:endParaRPr>
          </a:p>
          <a:p>
            <a:pPr algn="just">
              <a:defRPr sz="2000"/>
            </a:pPr>
            <a:r>
              <a:rPr lang="en-US" dirty="0">
                <a:latin typeface="Times New Roman" panose="02020603050405020304" pitchFamily="18" charset="0"/>
                <a:cs typeface="Times New Roman" panose="02020603050405020304" pitchFamily="18" charset="0"/>
              </a:rPr>
              <a:t> Priyanshu Gupta </a:t>
            </a:r>
            <a:r>
              <a:rPr lang="en-IN" dirty="0">
                <a:latin typeface="Times New Roman" panose="02020603050405020304" pitchFamily="18" charset="0"/>
                <a:cs typeface="Times New Roman" panose="02020603050405020304" pitchFamily="18" charset="0"/>
              </a:rPr>
              <a:t>(2210990687)</a:t>
            </a:r>
            <a:r>
              <a:rPr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Puneet Chauhan(2210990691)</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2"/>
          <p:cNvSpPr txBox="1">
            <a:spLocks noGrp="1"/>
          </p:cNvSpPr>
          <p:nvPr>
            <p:ph type="title"/>
          </p:nvPr>
        </p:nvSpPr>
        <p:spPr>
          <a:xfrm>
            <a:off x="-387625" y="109377"/>
            <a:ext cx="5889474" cy="506529"/>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None/>
            </a:pPr>
            <a:r>
              <a:rPr lang="en-US" sz="3200" dirty="0"/>
              <a:t>Introduction</a:t>
            </a:r>
            <a:endParaRPr sz="3200" dirty="0"/>
          </a:p>
        </p:txBody>
      </p:sp>
      <p:sp>
        <p:nvSpPr>
          <p:cNvPr id="59" name="Google Shape;59;p2"/>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a:t>2</a:t>
            </a:r>
            <a:endParaRPr/>
          </a:p>
        </p:txBody>
      </p:sp>
      <p:sp>
        <p:nvSpPr>
          <p:cNvPr id="15" name="TextBox 14">
            <a:extLst>
              <a:ext uri="{FF2B5EF4-FFF2-40B4-BE49-F238E27FC236}">
                <a16:creationId xmlns:a16="http://schemas.microsoft.com/office/drawing/2014/main" id="{4B321C17-34A8-7E7D-0F5E-17BE034A4FE6}"/>
              </a:ext>
            </a:extLst>
          </p:cNvPr>
          <p:cNvSpPr txBox="1"/>
          <p:nvPr/>
        </p:nvSpPr>
        <p:spPr>
          <a:xfrm>
            <a:off x="444500" y="1517650"/>
            <a:ext cx="8742866"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Phishing attacks have become one of the most widespread cybersecurity threats, causing significant financial and data losses worldwide.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Machine learning techniques are increasingly being adopted for phishing detection due to their ability to identify malicious patterns and suspicious website behaviors automatically.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Different machine learning models such as Decision Trees, Random Forest, Support Vector Machines, and Neural Networks vary in terms of detection accuracy, speed, and reliability.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comparative evaluation of these models is essential to determine which algorithms provide the best performance for real-time phishing detection systems.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research paper aims to analyze and compare multiple machine learning models based on evaluation metrics such as accuracy, precision, recall, F1-score, and computational efficiency. </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678E9-AC64-C38C-6C8E-E3FC4CAFCCC1}"/>
              </a:ext>
            </a:extLst>
          </p:cNvPr>
          <p:cNvSpPr>
            <a:spLocks noGrp="1"/>
          </p:cNvSpPr>
          <p:nvPr>
            <p:ph type="title"/>
          </p:nvPr>
        </p:nvSpPr>
        <p:spPr>
          <a:xfrm>
            <a:off x="129209" y="109377"/>
            <a:ext cx="5372640" cy="492443"/>
          </a:xfrm>
        </p:spPr>
        <p:txBody>
          <a:bodyPr/>
          <a:lstStyle/>
          <a:p>
            <a:r>
              <a:rPr lang="en-US" sz="3200" dirty="0"/>
              <a:t>Objective</a:t>
            </a:r>
            <a:endParaRPr lang="en-US" sz="3600" dirty="0"/>
          </a:p>
        </p:txBody>
      </p:sp>
      <p:sp>
        <p:nvSpPr>
          <p:cNvPr id="3" name="Rectangle 1">
            <a:extLst>
              <a:ext uri="{FF2B5EF4-FFF2-40B4-BE49-F238E27FC236}">
                <a16:creationId xmlns:a16="http://schemas.microsoft.com/office/drawing/2014/main" id="{EB3CAB3E-6D9C-CE40-D62E-8F69241475A9}"/>
              </a:ext>
            </a:extLst>
          </p:cNvPr>
          <p:cNvSpPr>
            <a:spLocks noChangeArrowheads="1"/>
          </p:cNvSpPr>
          <p:nvPr/>
        </p:nvSpPr>
        <p:spPr bwMode="auto">
          <a:xfrm rot="10800000" flipV="1">
            <a:off x="278295" y="2071089"/>
            <a:ext cx="741459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a:solidFill>
                <a:schemeClr val="tx1"/>
              </a:solidFill>
              <a:latin typeface="Arial" panose="020B0604020202020204" pitchFamily="34" charset="0"/>
            </a:endParaRPr>
          </a:p>
        </p:txBody>
      </p:sp>
      <p:sp>
        <p:nvSpPr>
          <p:cNvPr id="5" name="TextBox 4">
            <a:extLst>
              <a:ext uri="{FF2B5EF4-FFF2-40B4-BE49-F238E27FC236}">
                <a16:creationId xmlns:a16="http://schemas.microsoft.com/office/drawing/2014/main" id="{E1058BC7-E6BF-747B-853B-67619E7E9606}"/>
              </a:ext>
            </a:extLst>
          </p:cNvPr>
          <p:cNvSpPr txBox="1"/>
          <p:nvPr/>
        </p:nvSpPr>
        <p:spPr>
          <a:xfrm>
            <a:off x="387350" y="1600200"/>
            <a:ext cx="8896350" cy="3170099"/>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study the impact of phishing attacks and the importance of intelligent detection systems in modern cybersecurity.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implement and evaluate different machine learning models for identifying phishing websites and malicious online activities.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compare the performance of various machine learning algorithms using evaluation metrics such as accuracy, precision, recall, and F1-score.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identify the strengths and limitations of each machine learning model in terms of detection efficiency, speed, and reliability.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determine the most effective machine learning approach for improving phishing detection and enhancing online security systems</a:t>
            </a:r>
            <a:r>
              <a:rPr lang="en-US" sz="2000" dirty="0"/>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464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69573" y="-10601"/>
            <a:ext cx="5361155" cy="651884"/>
          </a:xfrm>
          <a:prstGeom prst="rect">
            <a:avLst/>
          </a:prstGeom>
          <a:noFill/>
          <a:ln>
            <a:noFill/>
          </a:ln>
        </p:spPr>
        <p:txBody>
          <a:bodyPr spcFirstLastPara="1" wrap="square" lIns="0" tIns="157900" rIns="0" bIns="0" anchor="t" anchorCtr="0">
            <a:spAutoFit/>
          </a:bodyPr>
          <a:lstStyle/>
          <a:p>
            <a:pPr marL="12700" lvl="0" indent="0" algn="l" rtl="0">
              <a:lnSpc>
                <a:spcPct val="100000"/>
              </a:lnSpc>
              <a:spcBef>
                <a:spcPts val="0"/>
              </a:spcBef>
              <a:spcAft>
                <a:spcPts val="0"/>
              </a:spcAft>
              <a:buNone/>
            </a:pPr>
            <a:r>
              <a:rPr lang="en-US" sz="3200" dirty="0"/>
              <a:t>Problem Statement</a:t>
            </a:r>
            <a:endParaRPr sz="3200" dirty="0"/>
          </a:p>
        </p:txBody>
      </p:sp>
      <p:sp>
        <p:nvSpPr>
          <p:cNvPr id="66" name="Google Shape;66;p3"/>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a:t>2</a:t>
            </a:r>
            <a:endParaRPr/>
          </a:p>
        </p:txBody>
      </p:sp>
      <p:sp>
        <p:nvSpPr>
          <p:cNvPr id="5" name="TextBox 4">
            <a:extLst>
              <a:ext uri="{FF2B5EF4-FFF2-40B4-BE49-F238E27FC236}">
                <a16:creationId xmlns:a16="http://schemas.microsoft.com/office/drawing/2014/main" id="{B6EBC627-19E8-79E5-0AE3-60F3ACF7DE90}"/>
              </a:ext>
            </a:extLst>
          </p:cNvPr>
          <p:cNvSpPr txBox="1"/>
          <p:nvPr/>
        </p:nvSpPr>
        <p:spPr>
          <a:xfrm>
            <a:off x="349250" y="1276351"/>
            <a:ext cx="8324850" cy="4708981"/>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rapid increase in phishing attacks has made traditional rule-based and blacklist-based detection methods insufficient for identifying newly emerging phishing websites.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Different machine learning models are being used for phishing detection, but their performance varies significantly depending on the dataset, feature selection, and evaluation criteria.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lack of comprehensive comparative studies that analyze the effectiveness, accuracy, and efficiency of multiple machine learning algorithms under similar conditions.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Many existing phishing detection systems suffer from high false positive and false negative rates, reducing their reliability in real-world cybersecurity applications.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research aims to address these challenges by conducting a comparative evaluation of various machine learning models to identify the most accurate and efficient approach for phishing detection.</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p:nvPr>
        </p:nvSpPr>
        <p:spPr>
          <a:xfrm>
            <a:off x="-834887" y="109377"/>
            <a:ext cx="6336735" cy="651884"/>
          </a:xfrm>
          <a:prstGeom prst="rect">
            <a:avLst/>
          </a:prstGeom>
          <a:noFill/>
          <a:ln>
            <a:noFill/>
          </a:ln>
        </p:spPr>
        <p:txBody>
          <a:bodyPr spcFirstLastPara="1" wrap="square" lIns="0" tIns="157900" rIns="0" bIns="0" anchor="t" anchorCtr="0">
            <a:spAutoFit/>
          </a:bodyPr>
          <a:lstStyle/>
          <a:p>
            <a:pPr marL="996314" lvl="0" indent="0" algn="l" rtl="0">
              <a:lnSpc>
                <a:spcPct val="100000"/>
              </a:lnSpc>
              <a:spcBef>
                <a:spcPts val="0"/>
              </a:spcBef>
              <a:spcAft>
                <a:spcPts val="0"/>
              </a:spcAft>
              <a:buNone/>
            </a:pPr>
            <a:r>
              <a:rPr lang="en-US" sz="3200" dirty="0"/>
              <a:t>Methodology</a:t>
            </a:r>
            <a:endParaRPr sz="3600" dirty="0"/>
          </a:p>
        </p:txBody>
      </p:sp>
      <p:sp>
        <p:nvSpPr>
          <p:cNvPr id="73" name="Google Shape;73;p4"/>
          <p:cNvSpPr txBox="1"/>
          <p:nvPr/>
        </p:nvSpPr>
        <p:spPr>
          <a:xfrm>
            <a:off x="17177" y="1243436"/>
            <a:ext cx="8766900" cy="502761"/>
          </a:xfrm>
          <a:prstGeom prst="rect">
            <a:avLst/>
          </a:prstGeom>
          <a:noFill/>
          <a:ln>
            <a:noFill/>
          </a:ln>
        </p:spPr>
        <p:txBody>
          <a:bodyPr spcFirstLastPara="1" wrap="square" lIns="0" tIns="11425" rIns="0" bIns="0" anchor="t" anchorCtr="0">
            <a:spAutoFit/>
          </a:bodyPr>
          <a:lstStyle/>
          <a:p>
            <a:pPr marL="95250" marR="8890" lvl="0" algn="just" rtl="0">
              <a:lnSpc>
                <a:spcPct val="151800"/>
              </a:lnSpc>
              <a:spcBef>
                <a:spcPts val="0"/>
              </a:spcBef>
              <a:spcAft>
                <a:spcPts val="0"/>
              </a:spcAft>
              <a:buSzPts val="2100"/>
            </a:pPr>
            <a:endParaRPr lang="en-US" sz="2100">
              <a:latin typeface="Times New Roman"/>
              <a:ea typeface="Times New Roman"/>
              <a:cs typeface="Times New Roman"/>
              <a:sym typeface="Times New Roman"/>
            </a:endParaRPr>
          </a:p>
        </p:txBody>
      </p:sp>
      <p:sp>
        <p:nvSpPr>
          <p:cNvPr id="74" name="Google Shape;74;p4"/>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a:t>2</a:t>
            </a:r>
            <a:endParaRPr/>
          </a:p>
        </p:txBody>
      </p:sp>
      <p:sp>
        <p:nvSpPr>
          <p:cNvPr id="11" name="TextBox 10">
            <a:extLst>
              <a:ext uri="{FF2B5EF4-FFF2-40B4-BE49-F238E27FC236}">
                <a16:creationId xmlns:a16="http://schemas.microsoft.com/office/drawing/2014/main" id="{1D24BEFD-D9F7-342D-79FF-EFF9F785CCA7}"/>
              </a:ext>
            </a:extLst>
          </p:cNvPr>
          <p:cNvSpPr txBox="1"/>
          <p:nvPr/>
        </p:nvSpPr>
        <p:spPr>
          <a:xfrm>
            <a:off x="385861" y="1243436"/>
            <a:ext cx="8029532" cy="4093428"/>
          </a:xfrm>
          <a:prstGeom prst="rect">
            <a:avLst/>
          </a:prstGeom>
          <a:noFill/>
        </p:spPr>
        <p:txBody>
          <a:bodyPr wrap="square">
            <a:spAutoFit/>
          </a:bodyPr>
          <a:lstStyle/>
          <a:p>
            <a:pPr marL="342900" lvl="0" indent="-342900" eaLnBrk="0" fontAlgn="base" hangingPunct="0">
              <a:spcBef>
                <a:spcPct val="0"/>
              </a:spcBef>
              <a:spcAft>
                <a:spcPct val="0"/>
              </a:spcAft>
              <a:buClrTx/>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 Collection and Preprocessing: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Phishing and legitimate website datasets were collected and cleaned to remove missing or irrelevant data before analysis. </a:t>
            </a:r>
          </a:p>
          <a:p>
            <a:pPr marL="342900" lvl="0" indent="-342900" eaLnBrk="0" fontAlgn="base" hangingPunct="0">
              <a:spcBef>
                <a:spcPct val="0"/>
              </a:spcBef>
              <a:spcAft>
                <a:spcPct val="0"/>
              </a:spcAft>
              <a:buClrTx/>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Feature Extraction and Selection: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Important features such as URL length, domain information, and security-related attributes were extracted for phishing detection. </a:t>
            </a:r>
          </a:p>
          <a:p>
            <a:pPr marL="342900" lvl="0" indent="-342900" eaLnBrk="0" fontAlgn="base" hangingPunct="0">
              <a:spcBef>
                <a:spcPct val="0"/>
              </a:spcBef>
              <a:spcAft>
                <a:spcPct val="0"/>
              </a:spcAft>
              <a:buClrTx/>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Implementation of Machine Learning Models: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Multiple machine learning algorithms including Decision Tree, Naïve Bayes, SVM, KNN, Neural Network, and Random Forest were implemented and trained. </a:t>
            </a:r>
          </a:p>
          <a:p>
            <a:pPr marL="342900" lvl="0" indent="-342900" eaLnBrk="0" fontAlgn="base" hangingPunct="0">
              <a:spcBef>
                <a:spcPct val="0"/>
              </a:spcBef>
              <a:spcAft>
                <a:spcPct val="0"/>
              </a:spcAft>
              <a:buClrTx/>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Performance Evaluation and Comparison: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models were evaluated and compared using metrics such as accuracy, precision, recall, F1-score, efficiency, and scalability.</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p:nvPr>
        </p:nvSpPr>
        <p:spPr>
          <a:xfrm>
            <a:off x="-834887" y="109377"/>
            <a:ext cx="6336735" cy="651884"/>
          </a:xfrm>
          <a:prstGeom prst="rect">
            <a:avLst/>
          </a:prstGeom>
          <a:noFill/>
          <a:ln>
            <a:noFill/>
          </a:ln>
        </p:spPr>
        <p:txBody>
          <a:bodyPr spcFirstLastPara="1" wrap="square" lIns="0" tIns="157900" rIns="0" bIns="0" anchor="t" anchorCtr="0">
            <a:spAutoFit/>
          </a:bodyPr>
          <a:lstStyle/>
          <a:p>
            <a:pPr marL="996314" lvl="0"/>
            <a:r>
              <a:rPr lang="en-US" sz="3200" dirty="0"/>
              <a:t>Class Distribution</a:t>
            </a:r>
            <a:endParaRPr sz="3200" dirty="0"/>
          </a:p>
        </p:txBody>
      </p:sp>
      <p:sp>
        <p:nvSpPr>
          <p:cNvPr id="73" name="Google Shape;73;p4"/>
          <p:cNvSpPr txBox="1"/>
          <p:nvPr/>
        </p:nvSpPr>
        <p:spPr>
          <a:xfrm>
            <a:off x="232155" y="1353176"/>
            <a:ext cx="8766900" cy="502761"/>
          </a:xfrm>
          <a:prstGeom prst="rect">
            <a:avLst/>
          </a:prstGeom>
          <a:noFill/>
          <a:ln>
            <a:noFill/>
          </a:ln>
        </p:spPr>
        <p:txBody>
          <a:bodyPr spcFirstLastPara="1" wrap="square" lIns="0" tIns="11425" rIns="0" bIns="0" anchor="t" anchorCtr="0">
            <a:spAutoFit/>
          </a:bodyPr>
          <a:lstStyle/>
          <a:p>
            <a:pPr marL="95250" marR="8890" lvl="0" algn="just" rtl="0">
              <a:lnSpc>
                <a:spcPct val="151800"/>
              </a:lnSpc>
              <a:spcBef>
                <a:spcPts val="0"/>
              </a:spcBef>
              <a:spcAft>
                <a:spcPts val="0"/>
              </a:spcAft>
              <a:buSzPts val="2100"/>
            </a:pPr>
            <a:endParaRPr lang="en-US" sz="2100">
              <a:latin typeface="Times New Roman"/>
              <a:ea typeface="Times New Roman"/>
              <a:cs typeface="Times New Roman"/>
              <a:sym typeface="Times New Roman"/>
            </a:endParaRPr>
          </a:p>
        </p:txBody>
      </p:sp>
      <p:sp>
        <p:nvSpPr>
          <p:cNvPr id="11" name="TextBox 10">
            <a:extLst>
              <a:ext uri="{FF2B5EF4-FFF2-40B4-BE49-F238E27FC236}">
                <a16:creationId xmlns:a16="http://schemas.microsoft.com/office/drawing/2014/main" id="{1D24BEFD-D9F7-342D-79FF-EFF9F785CCA7}"/>
              </a:ext>
            </a:extLst>
          </p:cNvPr>
          <p:cNvSpPr txBox="1"/>
          <p:nvPr/>
        </p:nvSpPr>
        <p:spPr>
          <a:xfrm>
            <a:off x="754545" y="1604556"/>
            <a:ext cx="8029532"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lang="en-IN" sz="2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C2308B3-9F60-2AA7-CE38-2F40B3968D09}"/>
              </a:ext>
            </a:extLst>
          </p:cNvPr>
          <p:cNvPicPr>
            <a:picLocks noChangeAspect="1"/>
          </p:cNvPicPr>
          <p:nvPr/>
        </p:nvPicPr>
        <p:blipFill>
          <a:blip r:embed="rId3"/>
          <a:stretch>
            <a:fillRect/>
          </a:stretch>
        </p:blipFill>
        <p:spPr>
          <a:xfrm>
            <a:off x="1342637" y="1508755"/>
            <a:ext cx="7068326" cy="4297689"/>
          </a:xfrm>
          <a:prstGeom prst="rect">
            <a:avLst/>
          </a:prstGeom>
        </p:spPr>
      </p:pic>
    </p:spTree>
    <p:extLst>
      <p:ext uri="{BB962C8B-B14F-4D97-AF65-F5344CB8AC3E}">
        <p14:creationId xmlns:p14="http://schemas.microsoft.com/office/powerpoint/2010/main" val="3603586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p:nvPr>
        </p:nvSpPr>
        <p:spPr>
          <a:xfrm>
            <a:off x="-834887" y="109377"/>
            <a:ext cx="7328284" cy="651884"/>
          </a:xfrm>
          <a:prstGeom prst="rect">
            <a:avLst/>
          </a:prstGeom>
          <a:noFill/>
          <a:ln>
            <a:noFill/>
          </a:ln>
        </p:spPr>
        <p:txBody>
          <a:bodyPr spcFirstLastPara="1" wrap="square" lIns="0" tIns="157900" rIns="0" bIns="0" anchor="t" anchorCtr="0">
            <a:spAutoFit/>
          </a:bodyPr>
          <a:lstStyle/>
          <a:p>
            <a:pPr marL="996314" lvl="0"/>
            <a:r>
              <a:rPr lang="en-US" sz="3200" dirty="0"/>
              <a:t>Model comparison</a:t>
            </a:r>
            <a:endParaRPr sz="3200" dirty="0"/>
          </a:p>
        </p:txBody>
      </p:sp>
      <p:sp>
        <p:nvSpPr>
          <p:cNvPr id="73" name="Google Shape;73;p4"/>
          <p:cNvSpPr txBox="1"/>
          <p:nvPr/>
        </p:nvSpPr>
        <p:spPr>
          <a:xfrm>
            <a:off x="232155" y="1353176"/>
            <a:ext cx="8766900" cy="502761"/>
          </a:xfrm>
          <a:prstGeom prst="rect">
            <a:avLst/>
          </a:prstGeom>
          <a:noFill/>
          <a:ln>
            <a:noFill/>
          </a:ln>
        </p:spPr>
        <p:txBody>
          <a:bodyPr spcFirstLastPara="1" wrap="square" lIns="0" tIns="11425" rIns="0" bIns="0" anchor="t" anchorCtr="0">
            <a:spAutoFit/>
          </a:bodyPr>
          <a:lstStyle/>
          <a:p>
            <a:pPr marL="95250" marR="8890" lvl="0" algn="just" rtl="0">
              <a:lnSpc>
                <a:spcPct val="151800"/>
              </a:lnSpc>
              <a:spcBef>
                <a:spcPts val="0"/>
              </a:spcBef>
              <a:spcAft>
                <a:spcPts val="0"/>
              </a:spcAft>
              <a:buSzPts val="2100"/>
            </a:pPr>
            <a:endParaRPr lang="en-US" sz="2100">
              <a:latin typeface="Times New Roman"/>
              <a:ea typeface="Times New Roman"/>
              <a:cs typeface="Times New Roman"/>
              <a:sym typeface="Times New Roman"/>
            </a:endParaRPr>
          </a:p>
        </p:txBody>
      </p:sp>
      <p:sp>
        <p:nvSpPr>
          <p:cNvPr id="74" name="Google Shape;74;p4"/>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a:t>2</a:t>
            </a:r>
            <a:endParaRPr/>
          </a:p>
        </p:txBody>
      </p:sp>
      <p:sp>
        <p:nvSpPr>
          <p:cNvPr id="11" name="TextBox 10">
            <a:extLst>
              <a:ext uri="{FF2B5EF4-FFF2-40B4-BE49-F238E27FC236}">
                <a16:creationId xmlns:a16="http://schemas.microsoft.com/office/drawing/2014/main" id="{1D24BEFD-D9F7-342D-79FF-EFF9F785CCA7}"/>
              </a:ext>
            </a:extLst>
          </p:cNvPr>
          <p:cNvSpPr txBox="1"/>
          <p:nvPr/>
        </p:nvSpPr>
        <p:spPr>
          <a:xfrm>
            <a:off x="754545" y="1604556"/>
            <a:ext cx="8029532"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lang="en-IN" sz="2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DEA9BBC-0782-C3B1-4A61-B9EF33E2DCC2}"/>
              </a:ext>
            </a:extLst>
          </p:cNvPr>
          <p:cNvPicPr>
            <a:picLocks noChangeAspect="1"/>
          </p:cNvPicPr>
          <p:nvPr/>
        </p:nvPicPr>
        <p:blipFill>
          <a:blip r:embed="rId3"/>
          <a:stretch>
            <a:fillRect/>
          </a:stretch>
        </p:blipFill>
        <p:spPr>
          <a:xfrm>
            <a:off x="912868" y="1508755"/>
            <a:ext cx="7927864" cy="4297689"/>
          </a:xfrm>
          <a:prstGeom prst="rect">
            <a:avLst/>
          </a:prstGeom>
        </p:spPr>
      </p:pic>
    </p:spTree>
    <p:extLst>
      <p:ext uri="{BB962C8B-B14F-4D97-AF65-F5344CB8AC3E}">
        <p14:creationId xmlns:p14="http://schemas.microsoft.com/office/powerpoint/2010/main" val="2306860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g319ac019662_0_1"/>
          <p:cNvSpPr txBox="1">
            <a:spLocks noGrp="1"/>
          </p:cNvSpPr>
          <p:nvPr>
            <p:ph type="title"/>
          </p:nvPr>
        </p:nvSpPr>
        <p:spPr>
          <a:xfrm>
            <a:off x="99392" y="181802"/>
            <a:ext cx="6156996" cy="492443"/>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sz="3200" dirty="0"/>
              <a:t>Results &amp; Discussion</a:t>
            </a:r>
            <a:endParaRPr sz="3200" dirty="0"/>
          </a:p>
        </p:txBody>
      </p:sp>
      <p:sp>
        <p:nvSpPr>
          <p:cNvPr id="80" name="Google Shape;80;g319ac019662_0_1"/>
          <p:cNvSpPr txBox="1">
            <a:spLocks noGrp="1"/>
          </p:cNvSpPr>
          <p:nvPr>
            <p:ph type="body" idx="1"/>
          </p:nvPr>
        </p:nvSpPr>
        <p:spPr>
          <a:xfrm flipH="1">
            <a:off x="9605818" y="7269481"/>
            <a:ext cx="1098332" cy="45719"/>
          </a:xfrm>
          <a:prstGeom prst="rect">
            <a:avLst/>
          </a:prstGeom>
        </p:spPr>
        <p:txBody>
          <a:bodyPr spcFirstLastPara="1" wrap="square" lIns="0" tIns="0" rIns="0" bIns="0" anchor="t" anchorCtr="0">
            <a:spAutoFit/>
          </a:bodyPr>
          <a:lstStyle/>
          <a:p>
            <a:pPr marL="0" lvl="0" indent="0" algn="l" rtl="0">
              <a:spcBef>
                <a:spcPts val="1200"/>
              </a:spcBef>
              <a:spcAft>
                <a:spcPts val="0"/>
              </a:spcAft>
              <a:buNone/>
            </a:pPr>
            <a:endParaRPr sz="1100" b="1">
              <a:latin typeface="Arial"/>
              <a:ea typeface="Arial"/>
              <a:cs typeface="Arial"/>
              <a:sym typeface="Arial"/>
            </a:endParaRPr>
          </a:p>
        </p:txBody>
      </p:sp>
      <p:sp>
        <p:nvSpPr>
          <p:cNvPr id="4" name="TextBox 3">
            <a:extLst>
              <a:ext uri="{FF2B5EF4-FFF2-40B4-BE49-F238E27FC236}">
                <a16:creationId xmlns:a16="http://schemas.microsoft.com/office/drawing/2014/main" id="{44500CB0-831F-F40B-4BE0-0B6E5E4B7E32}"/>
              </a:ext>
            </a:extLst>
          </p:cNvPr>
          <p:cNvSpPr txBox="1"/>
          <p:nvPr/>
        </p:nvSpPr>
        <p:spPr>
          <a:xfrm>
            <a:off x="190500" y="1085850"/>
            <a:ext cx="9258300" cy="5016758"/>
          </a:xfrm>
          <a:prstGeom prst="rect">
            <a:avLst/>
          </a:prstGeom>
          <a:noFill/>
        </p:spPr>
        <p:txBody>
          <a:bodyPr wrap="square">
            <a:spAutoFit/>
          </a:bodyPr>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Model Performance</a:t>
            </a:r>
          </a:p>
          <a:p>
            <a:r>
              <a:rPr lang="en-US" sz="2000" dirty="0">
                <a:latin typeface="Times New Roman" panose="02020603050405020304" pitchFamily="18" charset="0"/>
                <a:cs typeface="Times New Roman" panose="02020603050405020304" pitchFamily="18" charset="0"/>
              </a:rPr>
              <a:t>Random Forest achieved the highest accuracy (98%), followed by Neural Network (97%), KNN (96%), SVM (95%), Naïve Bayes (94%), and Decision Tree (90%). Advanced models performed better in detecting phishing websites.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Efficiency and Scalability</a:t>
            </a:r>
          </a:p>
          <a:p>
            <a:r>
              <a:rPr lang="en-US" sz="2000" dirty="0">
                <a:latin typeface="Times New Roman" panose="02020603050405020304" pitchFamily="18" charset="0"/>
                <a:cs typeface="Times New Roman" panose="02020603050405020304" pitchFamily="18" charset="0"/>
              </a:rPr>
              <a:t>Naïve Bayes and Decision Tree were faster and required fewer resources, while Random Forest and Neural Networks handled large datasets more effectively with higher accuracy. KNN and SVM provided balanced performance but required more computation for large data.</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Key Observations</a:t>
            </a:r>
          </a:p>
          <a:p>
            <a:r>
              <a:rPr lang="en-US" sz="2000" dirty="0">
                <a:latin typeface="Times New Roman" panose="02020603050405020304" pitchFamily="18" charset="0"/>
                <a:cs typeface="Times New Roman" panose="02020603050405020304" pitchFamily="18" charset="0"/>
              </a:rPr>
              <a:t>Random Forest was the most accurate and reliable model. </a:t>
            </a:r>
          </a:p>
          <a:p>
            <a:r>
              <a:rPr lang="en-US" sz="2000" dirty="0">
                <a:latin typeface="Times New Roman" panose="02020603050405020304" pitchFamily="18" charset="0"/>
                <a:cs typeface="Times New Roman" panose="02020603050405020304" pitchFamily="18" charset="0"/>
              </a:rPr>
              <a:t>Neural Networks effectively detected complex phishing patterns. </a:t>
            </a:r>
          </a:p>
          <a:p>
            <a:r>
              <a:rPr lang="en-US" sz="2000" dirty="0">
                <a:latin typeface="Times New Roman" panose="02020603050405020304" pitchFamily="18" charset="0"/>
                <a:cs typeface="Times New Roman" panose="02020603050405020304" pitchFamily="18" charset="0"/>
              </a:rPr>
              <a:t>Decision Tree showed lower performance due to overfitting. </a:t>
            </a:r>
          </a:p>
          <a:p>
            <a:r>
              <a:rPr lang="en-US" sz="2000" dirty="0">
                <a:latin typeface="Times New Roman" panose="02020603050405020304" pitchFamily="18" charset="0"/>
                <a:cs typeface="Times New Roman" panose="02020603050405020304" pitchFamily="18" charset="0"/>
              </a:rPr>
              <a:t>Feature selection and dataset quality greatly affected model accuracy. </a:t>
            </a:r>
          </a:p>
          <a:p>
            <a:r>
              <a:rPr lang="en-US" sz="2000" dirty="0">
                <a:latin typeface="Times New Roman" panose="02020603050405020304" pitchFamily="18" charset="0"/>
                <a:cs typeface="Times New Roman" panose="02020603050405020304" pitchFamily="18" charset="0"/>
              </a:rPr>
              <a:t>Machine learning improved phishing detection and cybersecurity efficiency.</a:t>
            </a: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82F8F-47D9-0DC1-143F-DD694A2F8183}"/>
              </a:ext>
            </a:extLst>
          </p:cNvPr>
          <p:cNvSpPr>
            <a:spLocks noGrp="1"/>
          </p:cNvSpPr>
          <p:nvPr>
            <p:ph type="title"/>
          </p:nvPr>
        </p:nvSpPr>
        <p:spPr>
          <a:xfrm>
            <a:off x="417443" y="109377"/>
            <a:ext cx="5084405" cy="492443"/>
          </a:xfrm>
        </p:spPr>
        <p:txBody>
          <a:bodyPr/>
          <a:lstStyle/>
          <a:p>
            <a:r>
              <a:rPr lang="en-US" sz="3200" dirty="0"/>
              <a:t>Conclusion</a:t>
            </a:r>
          </a:p>
        </p:txBody>
      </p:sp>
      <p:sp>
        <p:nvSpPr>
          <p:cNvPr id="4" name="Rectangle 1">
            <a:extLst>
              <a:ext uri="{FF2B5EF4-FFF2-40B4-BE49-F238E27FC236}">
                <a16:creationId xmlns:a16="http://schemas.microsoft.com/office/drawing/2014/main" id="{0DA599E7-8D0B-AF58-9464-F8F756577B12}"/>
              </a:ext>
            </a:extLst>
          </p:cNvPr>
          <p:cNvSpPr>
            <a:spLocks noChangeArrowheads="1"/>
          </p:cNvSpPr>
          <p:nvPr/>
        </p:nvSpPr>
        <p:spPr bwMode="auto">
          <a:xfrm>
            <a:off x="417443" y="1148959"/>
            <a:ext cx="789624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The study demonstrated that machine learning techniques are highly effective for detecting phishing websites and improving cybersecurity systems. </a:t>
            </a:r>
          </a:p>
          <a:p>
            <a:pPr lvl="0" eaLnBrk="0" fontAlgn="base" hangingPunct="0">
              <a:spcBef>
                <a:spcPct val="0"/>
              </a:spcBef>
              <a:spcAft>
                <a:spcPct val="0"/>
              </a:spcAft>
              <a:buClrTx/>
            </a:pPr>
            <a:endParaRPr 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Among all evaluated models, Random Forest achieved the highest accuracy and reliability for phishing detection. </a:t>
            </a:r>
          </a:p>
          <a:p>
            <a:pPr lvl="0" eaLnBrk="0" fontAlgn="base" hangingPunct="0">
              <a:spcBef>
                <a:spcPct val="0"/>
              </a:spcBef>
              <a:spcAft>
                <a:spcPct val="0"/>
              </a:spcAft>
              <a:buClrTx/>
            </a:pPr>
            <a:endParaRPr 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Advanced models such as Neural Networks and Random Forest performed better in identifying complex phishing patterns compared to traditional algorithms. </a:t>
            </a:r>
          </a:p>
          <a:p>
            <a:pPr lvl="0" eaLnBrk="0" fontAlgn="base" hangingPunct="0">
              <a:spcBef>
                <a:spcPct val="0"/>
              </a:spcBef>
              <a:spcAft>
                <a:spcPct val="0"/>
              </a:spcAft>
              <a:buClrTx/>
            </a:pPr>
            <a:endParaRPr 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The research confirms that selecting appropriate features and machine learning models can significantly enhance the accuracy and efficiency of phishing detection systems</a:t>
            </a:r>
            <a:r>
              <a:rPr lang="en-US" sz="2000" dirty="0"/>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3858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7"/>
          <p:cNvSpPr txBox="1">
            <a:spLocks noGrp="1"/>
          </p:cNvSpPr>
          <p:nvPr>
            <p:ph type="title"/>
          </p:nvPr>
        </p:nvSpPr>
        <p:spPr>
          <a:xfrm>
            <a:off x="3137882" y="2901732"/>
            <a:ext cx="3644900" cy="3553517"/>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5750"/>
              <a:t>Thank You</a:t>
            </a:r>
            <a:br>
              <a:rPr lang="en-US" sz="5750"/>
            </a:br>
            <a:br>
              <a:rPr lang="en-US" sz="5750"/>
            </a:br>
            <a:br>
              <a:rPr lang="en-US" sz="5750"/>
            </a:br>
            <a:endParaRPr sz="5750"/>
          </a:p>
        </p:txBody>
      </p:sp>
      <p:sp>
        <p:nvSpPr>
          <p:cNvPr id="106" name="Google Shape;106;p7"/>
          <p:cNvSpPr txBox="1"/>
          <p:nvPr/>
        </p:nvSpPr>
        <p:spPr>
          <a:xfrm>
            <a:off x="9074494" y="6801811"/>
            <a:ext cx="112395"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sz="1250" b="1">
                <a:latin typeface="Trebuchet MS"/>
                <a:ea typeface="Trebuchet MS"/>
                <a:cs typeface="Trebuchet MS"/>
                <a:sym typeface="Trebuchet MS"/>
              </a:rPr>
              <a:t>3</a:t>
            </a:r>
            <a:endParaRPr sz="1250">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yritsolution</Template>
  <TotalTime>170</TotalTime>
  <Words>755</Words>
  <Application>Microsoft Office PowerPoint</Application>
  <PresentationFormat>Custom</PresentationFormat>
  <Paragraphs>70</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Times New Roman</vt:lpstr>
      <vt:lpstr>Trebuchet MS</vt:lpstr>
      <vt:lpstr>Office Theme</vt:lpstr>
      <vt:lpstr>PowerPoint Presentation</vt:lpstr>
      <vt:lpstr>Introduction</vt:lpstr>
      <vt:lpstr>Objective</vt:lpstr>
      <vt:lpstr>Problem Statement</vt:lpstr>
      <vt:lpstr>Methodology</vt:lpstr>
      <vt:lpstr>Class Distribution</vt:lpstr>
      <vt:lpstr>Model comparison</vt:lpstr>
      <vt:lpstr>Results &amp; Discussion</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nakul JAIN</dc:creator>
  <cp:lastModifiedBy>hp</cp:lastModifiedBy>
  <cp:revision>15</cp:revision>
  <dcterms:created xsi:type="dcterms:W3CDTF">2026-03-24T19:17:42Z</dcterms:created>
  <dcterms:modified xsi:type="dcterms:W3CDTF">2026-05-17T11:32:17Z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2024-08-03T00:00:00Z</vt:filetime>
  </property>
  <property fmtid="{D5CDD505-2E9C-101B-9397-08002B2CF9AE}" pid="3" name="Creator">
    <vt:lpwstr>Canva</vt:lpwstr>
  </property>
  <property fmtid="{D5CDD505-2E9C-101B-9397-08002B2CF9AE}" pid="4" name="LastSaved">
    <vt:filetime>2024-10-02T00:00:00Z</vt:filetime>
  </property>
  <property fmtid="{D5CDD505-2E9C-101B-9397-08002B2CF9AE}" pid="5" name="Producer">
    <vt:lpwstr>Canva</vt:lpwstr>
  </property>
</Properties>
</file>